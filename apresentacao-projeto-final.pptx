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1239926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Projeto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61718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 / 32</a:t>
            </a:r>
          </a:p>
        </p:txBody>
      </p:sp>
      <p:pic>
        <p:nvPicPr>
          <p:cNvPr id="7" name="Picture 6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406" y="320040"/>
            <a:ext cx="988368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23444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B07F24"/>
                </a:solidFill>
                <a:latin typeface="Segoe UI"/>
              </a:rPr>
              <a:t>INTRODUÇÃO À CIÊNCIA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795527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2700" b="1">
                <a:solidFill>
                  <a:srgbClr val="0F333F"/>
                </a:solidFill>
                <a:latin typeface="Segoe UI"/>
              </a:rPr>
              <a:t>O Impacto do Contexto Histórico e da Indústria de Jogos na Escolha de Hardware dos Usuários da Steam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8778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4D6167"/>
                </a:solidFill>
                <a:latin typeface="Segoe UI"/>
              </a:rPr>
              <a:t>Uma análise de 8 anos do Steam Hardware &amp; Software Survey (2019–2026), com </a:t>
            </a:r>
            <a:r>
              <a:rPr sz="1400" b="1">
                <a:solidFill>
                  <a:srgbClr val="B07F24"/>
                </a:solidFill>
                <a:latin typeface="Segoe UI"/>
              </a:rPr>
              <a:t>regressão linear</a:t>
            </a:r>
            <a:r>
              <a:rPr sz="1400" b="0" i="0">
                <a:solidFill>
                  <a:srgbClr val="4D6167"/>
                </a:solidFill>
                <a:latin typeface="Segoe UI"/>
              </a:rPr>
              <a:t>, </a:t>
            </a:r>
            <a:r>
              <a:rPr sz="1400" b="1">
                <a:solidFill>
                  <a:srgbClr val="B07F24"/>
                </a:solidFill>
                <a:latin typeface="Segoe UI"/>
              </a:rPr>
              <a:t>agrupamento K-Means</a:t>
            </a:r>
            <a:r>
              <a:rPr sz="1400" b="0" i="0">
                <a:solidFill>
                  <a:srgbClr val="4D6167"/>
                </a:solidFill>
                <a:latin typeface="Segoe UI"/>
              </a:rPr>
              <a:t> e uma comparação com a Steam Machine (2026) da Valve.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09160"/>
            <a:ext cx="54864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B07F24"/>
                </a:solidFill>
                <a:latin typeface="Segoe UI"/>
              </a:rPr>
              <a:t>INTEGRANTES</a:t>
            </a:r>
          </a:p>
          <a:p>
            <a:r>
              <a:rPr sz="1300" b="1">
                <a:solidFill>
                  <a:srgbClr val="172A2E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709160"/>
            <a:ext cx="310896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spcAft>
                <a:spcPts val="600"/>
              </a:spcAft>
            </a:pPr>
            <a:r>
              <a:rPr sz="1050" b="1">
                <a:solidFill>
                  <a:srgbClr val="B07F24"/>
                </a:solidFill>
                <a:latin typeface="Segoe UI"/>
              </a:rPr>
              <a:t>PROFESSOR</a:t>
            </a:r>
          </a:p>
          <a:p>
            <a:r>
              <a:rPr sz="1300" b="1">
                <a:solidFill>
                  <a:srgbClr val="172A2E"/>
                </a:solidFill>
                <a:latin typeface="Segoe UI"/>
              </a:rPr>
              <a:t>Yuri Malheiros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735177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Sumário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766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O que vamos 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AF4E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14884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172A2E"/>
                </a:solidFill>
                <a:latin typeface="Segoe UI"/>
              </a:rPr>
              <a:t>Introdução — motivação e objetivo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0632"/>
            <a:ext cx="5394960" cy="10972"/>
          </a:xfrm>
          <a:prstGeom prst="rect">
            <a:avLst/>
          </a:prstGeom>
          <a:solidFill>
            <a:srgbClr val="DDD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AF4E6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1752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172A2E"/>
                </a:solidFill>
                <a:latin typeface="Segoe UI"/>
              </a:rPr>
              <a:t>Perguntas da pesquisa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39312"/>
            <a:ext cx="5394960" cy="10972"/>
          </a:xfrm>
          <a:prstGeom prst="rect">
            <a:avLst/>
          </a:prstGeom>
          <a:solidFill>
            <a:srgbClr val="DDD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88620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AF4E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88620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172A2E"/>
                </a:solidFill>
                <a:latin typeface="Segoe UI"/>
              </a:rPr>
              <a:t>Dados usados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07992"/>
            <a:ext cx="5394960" cy="10972"/>
          </a:xfrm>
          <a:prstGeom prst="rect">
            <a:avLst/>
          </a:prstGeom>
          <a:solidFill>
            <a:srgbClr val="DDD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754879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AF4E6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754879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172A2E"/>
                </a:solidFill>
                <a:latin typeface="Segoe UI"/>
              </a:rPr>
              <a:t>Extração, leitura e limpeza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76671"/>
            <a:ext cx="5394960" cy="10972"/>
          </a:xfrm>
          <a:prstGeom prst="rect">
            <a:avLst/>
          </a:prstGeom>
          <a:solidFill>
            <a:srgbClr val="DDD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214884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AF4E6"/>
                </a:solidFill>
                <a:latin typeface="Segoe U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14884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172A2E"/>
                </a:solidFill>
                <a:latin typeface="Segoe UI"/>
              </a:rPr>
              <a:t>Análises: RAM, VRAM, CPU, SO, GPU, resolução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770632"/>
            <a:ext cx="5394960" cy="10972"/>
          </a:xfrm>
          <a:prstGeom prst="rect">
            <a:avLst/>
          </a:prstGeom>
          <a:solidFill>
            <a:srgbClr val="DDD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AF4E6"/>
                </a:solidFill>
                <a:latin typeface="Segoe U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01752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172A2E"/>
                </a:solidFill>
                <a:latin typeface="Segoe UI"/>
              </a:rPr>
              <a:t>Steam Machine (2026) × tendências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639312"/>
            <a:ext cx="5394960" cy="10972"/>
          </a:xfrm>
          <a:prstGeom prst="rect">
            <a:avLst/>
          </a:prstGeom>
          <a:solidFill>
            <a:srgbClr val="DDD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388620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AF4E6"/>
                </a:solidFill>
                <a:latin typeface="Segoe U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388620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172A2E"/>
                </a:solidFill>
                <a:latin typeface="Segoe UI"/>
              </a:rPr>
              <a:t>Conclusão, limitações e próximos passos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507992"/>
            <a:ext cx="5394960" cy="10972"/>
          </a:xfrm>
          <a:prstGeom prst="rect">
            <a:avLst/>
          </a:prstGeom>
          <a:solidFill>
            <a:srgbClr val="DDD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4754879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AF4E6"/>
                </a:solidFill>
                <a:latin typeface="Segoe U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4754879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>
                <a:solidFill>
                  <a:srgbClr val="172A2E"/>
                </a:solidFill>
                <a:latin typeface="Segoe UI"/>
              </a:rPr>
              <a:t>Referências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376671"/>
            <a:ext cx="5394960" cy="10972"/>
          </a:xfrm>
          <a:prstGeom prst="rect">
            <a:avLst/>
          </a:prstGeom>
          <a:solidFill>
            <a:srgbClr val="DDD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997049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Introdução · Motivação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9537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Por que olhar para o hardware da Steam?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3327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0" i="0">
                <a:solidFill>
                  <a:srgbClr val="172A2E"/>
                </a:solidFill>
                <a:latin typeface="Segoe UI"/>
              </a:rPr>
              <a:t>•  A Steam publica mensalmente o </a:t>
            </a:r>
            <a:r>
              <a:rPr sz="1700" b="1">
                <a:solidFill>
                  <a:srgbClr val="B07F24"/>
                </a:solidFill>
                <a:latin typeface="Segoe UI"/>
              </a:rPr>
              <a:t>Hardware &amp; Software Survey</a:t>
            </a:r>
            <a:r>
              <a:rPr sz="1700" b="0" i="0">
                <a:solidFill>
                  <a:srgbClr val="172A2E"/>
                </a:solidFill>
                <a:latin typeface="Segoe UI"/>
              </a:rPr>
              <a:t>, com a configuração de milhões de usuários.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0" i="0">
                <a:solidFill>
                  <a:srgbClr val="172A2E"/>
                </a:solidFill>
                <a:latin typeface="Segoe UI"/>
              </a:rPr>
              <a:t>•  Esses dados retratam como o parque de computadores gamers muda a cada lançamento de jogo, GPU, console ou sistema operacional.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0" i="0">
                <a:solidFill>
                  <a:srgbClr val="172A2E"/>
                </a:solidFill>
                <a:latin typeface="Segoe UI"/>
              </a:rPr>
              <a:t>•  Queríamos entender como o hardware mudou entre </a:t>
            </a:r>
            <a:r>
              <a:rPr sz="1700" b="1">
                <a:solidFill>
                  <a:srgbClr val="B07F24"/>
                </a:solidFill>
                <a:latin typeface="Segoe UI"/>
              </a:rPr>
              <a:t>2019 e 2026</a:t>
            </a:r>
            <a:r>
              <a:rPr sz="1700" b="0" i="0">
                <a:solidFill>
                  <a:srgbClr val="172A2E"/>
                </a:solidFill>
                <a:latin typeface="Segoe UI"/>
              </a:rPr>
              <a:t> — e o que essas tendências sugerem até </a:t>
            </a:r>
            <a:r>
              <a:rPr sz="1700" b="1">
                <a:solidFill>
                  <a:srgbClr val="B07F24"/>
                </a:solidFill>
                <a:latin typeface="Segoe UI"/>
              </a:rPr>
              <a:t>2030</a:t>
            </a:r>
            <a:r>
              <a:rPr sz="1700" b="0" i="0">
                <a:solidFill>
                  <a:srgbClr val="172A2E"/>
                </a:solidFill>
                <a:latin typeface="Segoe UI"/>
              </a:rPr>
              <a:t>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 b="0" i="0">
                <a:solidFill>
                  <a:srgbClr val="172A2E"/>
                </a:solidFill>
                <a:latin typeface="Segoe UI"/>
              </a:rPr>
              <a:t>•  E comparar tudo isso com um produto real recém-lançado: a </a:t>
            </a:r>
            <a:r>
              <a:rPr sz="1700" b="1">
                <a:solidFill>
                  <a:srgbClr val="B07F24"/>
                </a:solidFill>
                <a:latin typeface="Segoe UI"/>
              </a:rPr>
              <a:t>Steam Machine (2026)</a:t>
            </a:r>
            <a:r>
              <a:rPr sz="1700" b="0" i="0">
                <a:solidFill>
                  <a:srgbClr val="172A2E"/>
                </a:solidFill>
                <a:latin typeface="Segoe UI"/>
              </a:rPr>
              <a:t> da Valve.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912924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Introdução · Objetivo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85412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Objetivo geral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900" b="0" i="0">
                <a:solidFill>
                  <a:srgbClr val="172A2E"/>
                </a:solidFill>
                <a:latin typeface="Segoe UI"/>
              </a:rPr>
              <a:t>Analisar a evolução de </a:t>
            </a:r>
            <a:r>
              <a:rPr sz="1900" b="1">
                <a:solidFill>
                  <a:srgbClr val="B07F24"/>
                </a:solidFill>
                <a:latin typeface="Segoe UI"/>
              </a:rPr>
              <a:t>RAM, VRAM, CPU, GPU, sistema operacional</a:t>
            </a:r>
            <a:r>
              <a:rPr sz="1900" b="0" i="0">
                <a:solidFill>
                  <a:srgbClr val="172A2E"/>
                </a:solidFill>
                <a:latin typeface="Segoe UI"/>
              </a:rPr>
              <a:t> e </a:t>
            </a:r>
            <a:r>
              <a:rPr sz="1900" b="1">
                <a:solidFill>
                  <a:srgbClr val="B07F24"/>
                </a:solidFill>
                <a:latin typeface="Segoe UI"/>
              </a:rPr>
              <a:t>resolução de tela</a:t>
            </a:r>
            <a:r>
              <a:rPr sz="1900" b="0" i="0">
                <a:solidFill>
                  <a:srgbClr val="172A2E"/>
                </a:solidFill>
                <a:latin typeface="Segoe UI"/>
              </a:rPr>
              <a:t> dos usuários da Steam ao longo do tempo, relacionando essas mudanças ao contexto histórico e à indústria de jogos.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2066543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33F"/>
                </a:solidFill>
                <a:latin typeface="Segoe UI"/>
              </a:rPr>
              <a:t>Regressão linear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3749039"/>
            <a:ext cx="2368296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33F"/>
                </a:solidFill>
                <a:latin typeface="Segoe UI"/>
              </a:rPr>
              <a:t>Agrupamento K-Means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6" y="3749039"/>
            <a:ext cx="2267712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33F"/>
                </a:solidFill>
                <a:latin typeface="Segoe UI"/>
              </a:rPr>
              <a:t>Projeções até 2030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3749039"/>
            <a:ext cx="3273552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333F"/>
                </a:solidFill>
                <a:latin typeface="Segoe UI"/>
              </a:rPr>
              <a:t>Comparação com hardware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417673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Perguntas da pesquisa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90161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O que queríamos responder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0424160" cy="822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99339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8308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Como a distribuição de memória RAM mudou entre 2019 e 2026, e qual a projeção para 2030? (</a:t>
            </a:r>
            <a:r>
              <a:rPr sz="1350" b="1">
                <a:solidFill>
                  <a:srgbClr val="B07F24"/>
                </a:solidFill>
                <a:latin typeface="Segoe UI"/>
              </a:rPr>
              <a:t>regressão linear</a:t>
            </a:r>
            <a:r>
              <a:rPr sz="1350" b="0" i="0">
                <a:solidFill>
                  <a:srgbClr val="172A2E"/>
                </a:solidFill>
                <a:latin typeface="Segoe UI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15768"/>
            <a:ext cx="10424160" cy="822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926079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715768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Como evoluiu a VRAM, e é possível separar os usuários em perfis de hardware (entrada, intermediário, entusiasta)? (</a:t>
            </a:r>
            <a:r>
              <a:rPr sz="1350" b="1">
                <a:solidFill>
                  <a:srgbClr val="B07F24"/>
                </a:solidFill>
                <a:latin typeface="Segoe UI"/>
              </a:rPr>
              <a:t>K-Means</a:t>
            </a:r>
            <a:r>
              <a:rPr sz="1350" b="0" i="0">
                <a:solidFill>
                  <a:srgbClr val="172A2E"/>
                </a:solidFill>
                <a:latin typeface="Segoe UI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48456"/>
            <a:ext cx="1042416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803904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648456"/>
            <a:ext cx="9509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Como o número de núcleos/CPUs físicas evoluiu, e qual configuração deve predominar em 2030?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71416"/>
            <a:ext cx="1042416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4626864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471416"/>
            <a:ext cx="9509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A transição de Windows 10 para Windows 11 já está consolidada mês a mês em 2025–2026?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94376"/>
            <a:ext cx="1042416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5449824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294376"/>
            <a:ext cx="9509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Linux e macOS estão ganhando espaço frente ao Windows na Steam?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417673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Perguntas da pesquisa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90161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O que queríamos responder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0424160" cy="822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993392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83080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Qual a participação de mercado de NVIDIA, AMD e Intel entre as placas de vídeo, e como mudou ao longo dos anos?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15768"/>
            <a:ext cx="1042416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2871215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715768"/>
            <a:ext cx="9509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Qual a resolução mais popular e qual o cenário de crescimento/decrescimento desse hardware?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38727"/>
            <a:ext cx="1042416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538727"/>
            <a:ext cx="9509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Existe correlação entre a queda do Windows 10 e o crescimento do Windows 11? (</a:t>
            </a:r>
            <a:r>
              <a:rPr sz="1350" b="1">
                <a:solidFill>
                  <a:srgbClr val="B07F24"/>
                </a:solidFill>
                <a:latin typeface="Segoe UI"/>
              </a:rPr>
              <a:t>matriz de correlação</a:t>
            </a:r>
            <a:r>
              <a:rPr sz="1350" b="0" i="0">
                <a:solidFill>
                  <a:srgbClr val="172A2E"/>
                </a:solidFill>
                <a:latin typeface="Segoe UI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61688"/>
            <a:ext cx="10424160" cy="822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4572000"/>
            <a:ext cx="402336" cy="402336"/>
          </a:xfrm>
          <a:prstGeom prst="roundRect">
            <a:avLst>
              <a:gd name="adj" fmla="val 25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361688"/>
            <a:ext cx="9509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350" b="0" i="0">
                <a:solidFill>
                  <a:srgbClr val="172A2E"/>
                </a:solidFill>
                <a:latin typeface="Segoe UI"/>
              </a:rPr>
              <a:t>As especificações da Steam Machine (2026) da Valve condizem com o hardware “mediano” projetado para 2026 — e para os anos seguintes?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155801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Dados usados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28289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Steam Hardware &amp; Software Survey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20240"/>
          <a:ext cx="6949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97680"/>
              </a:tblGrid>
              <a:tr h="587828"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AF4E6"/>
                          </a:solidFill>
                          <a:latin typeface="Segoe UI"/>
                        </a:rPr>
                        <a:t>Categoria</a:t>
                      </a:r>
                    </a:p>
                  </a:txBody>
                  <a:tcPr anchor="ctr">
                    <a:solidFill>
                      <a:srgbClr val="0F3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50">
                          <a:solidFill>
                            <a:srgbClr val="FAF4E6"/>
                          </a:solidFill>
                          <a:latin typeface="Segoe UI"/>
                        </a:rPr>
                        <a:t>Descrição</a:t>
                      </a:r>
                    </a:p>
                  </a:txBody>
                  <a:tcPr anchor="ctr">
                    <a:solidFill>
                      <a:srgbClr val="0F333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64A59"/>
                          </a:solidFill>
                          <a:latin typeface="Segoe UI"/>
                        </a:rPr>
                        <a:t>OS 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2A2E"/>
                          </a:solidFill>
                          <a:latin typeface="Segoe UI"/>
                        </a:rPr>
                        <a:t>Sistemas operacionais e versões usados pelos usuários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64A59"/>
                          </a:solidFill>
                          <a:latin typeface="Segoe UI"/>
                        </a:rPr>
                        <a:t>System 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2A2E"/>
                          </a:solidFill>
                          <a:latin typeface="Segoe UI"/>
                        </a:rPr>
                        <a:t>Quantidade de memória RAM instalada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64A59"/>
                          </a:solidFill>
                          <a:latin typeface="Segoe UI"/>
                        </a:rPr>
                        <a:t>Physical CPUs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2A2E"/>
                          </a:solidFill>
                          <a:latin typeface="Segoe UI"/>
                        </a:rPr>
                        <a:t>Quantidade de núcleos/CPUs físicas reportados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64A59"/>
                          </a:solidFill>
                          <a:latin typeface="Segoe UI"/>
                        </a:rPr>
                        <a:t>Video Card 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2A2E"/>
                          </a:solidFill>
                          <a:latin typeface="Segoe UI"/>
                        </a:rPr>
                        <a:t>Modelos de placas de vídeo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64A59"/>
                          </a:solidFill>
                          <a:latin typeface="Segoe UI"/>
                        </a:rPr>
                        <a:t>VRAM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2A2E"/>
                          </a:solidFill>
                          <a:latin typeface="Segoe UI"/>
                        </a:rPr>
                        <a:t>Quantidade de memória de vídeo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64A59"/>
                          </a:solidFill>
                          <a:latin typeface="Segoe UI"/>
                        </a:rPr>
                        <a:t>Primary Display Resolution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2A2E"/>
                          </a:solidFill>
                          <a:latin typeface="Segoe UI"/>
                        </a:rPr>
                        <a:t>Resolução principal de tela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1920240"/>
            <a:ext cx="38404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46304"/>
          <a:lstStyle/>
          <a:p>
            <a:pPr algn="ctr"/>
            <a:r>
              <a:rPr sz="2200" b="1">
                <a:solidFill>
                  <a:srgbClr val="0F333F"/>
                </a:solidFill>
                <a:latin typeface="Segoe UI"/>
              </a:rPr>
              <a:t>2019–2026</a:t>
            </a:r>
          </a:p>
          <a:p>
            <a:r>
              <a:rPr sz="1100" b="1">
                <a:solidFill>
                  <a:srgbClr val="4D6167"/>
                </a:solidFill>
                <a:latin typeface="Segoe UI"/>
              </a:rPr>
              <a:t>8 anos de snapshots mensais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73552"/>
            <a:ext cx="38404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46304"/>
          <a:lstStyle/>
          <a:p>
            <a:pPr algn="ctr"/>
            <a:r>
              <a:rPr sz="2200" b="1">
                <a:solidFill>
                  <a:srgbClr val="0F333F"/>
                </a:solidFill>
                <a:latin typeface="Segoe UI"/>
              </a:rPr>
              <a:t>17.336</a:t>
            </a:r>
          </a:p>
          <a:p>
            <a:r>
              <a:rPr sz="1100" b="1">
                <a:solidFill>
                  <a:srgbClr val="4D6167"/>
                </a:solidFill>
                <a:latin typeface="Segoe UI"/>
              </a:rPr>
              <a:t>registros mensais (após limpeza)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626864"/>
            <a:ext cx="38404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46304"/>
          <a:lstStyle/>
          <a:p>
            <a:pPr algn="ctr"/>
            <a:r>
              <a:rPr sz="2200" b="1">
                <a:solidFill>
                  <a:srgbClr val="0F333F"/>
                </a:solidFill>
                <a:latin typeface="Segoe UI"/>
              </a:rPr>
              <a:t>1.606</a:t>
            </a:r>
          </a:p>
          <a:p>
            <a:r>
              <a:rPr sz="1100" b="1">
                <a:solidFill>
                  <a:srgbClr val="4D6167"/>
                </a:solidFill>
                <a:latin typeface="Segoe UI"/>
              </a:rPr>
              <a:t>registros anuais (após limpeza)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660550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Extração &amp; Leitura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33038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Do site da Steam aos CSVs unificados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3322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2956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F333F"/>
                </a:solidFill>
                <a:latin typeface="Segoe UI"/>
              </a:rPr>
              <a:t>Extração mensal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4D6167"/>
                </a:solidFill>
                <a:latin typeface="Segoe UI"/>
              </a:rPr>
              <a:t>Web scraping de snapshots arquivados no Wayback Machine, um por mês, de jan/2019 a mai/2026, com requests + BeautifulSoup.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6407" y="3291839"/>
            <a:ext cx="283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D5E70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8160" y="2286000"/>
            <a:ext cx="3322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40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40" y="2944368"/>
            <a:ext cx="2956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F333F"/>
                </a:solidFill>
                <a:latin typeface="Segoe UI"/>
              </a:rPr>
              <a:t>Agregação anual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4D6167"/>
                </a:solidFill>
                <a:latin typeface="Segoe UI"/>
              </a:rPr>
              <a:t>Valor de dezembro (ou último mês disponível) como referência do ano; incremento anual = valor final − primeira aparição no ano.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8768" y="3291839"/>
            <a:ext cx="283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D5E70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0520" y="2286000"/>
            <a:ext cx="332232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3399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3399" y="2944368"/>
            <a:ext cx="2956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F333F"/>
                </a:solidFill>
                <a:latin typeface="Segoe UI"/>
              </a:rPr>
              <a:t>Leitura &amp; união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4D6167"/>
                </a:solidFill>
                <a:latin typeface="Segoe UI"/>
              </a:rPr>
              <a:t>Todos os CSVs por ano (mensal e anual) são unidos em duas bases únicas, padronizadas e ordenadas cronologicamente.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417673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Pré-processamento · Limpeza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90161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Tratando nulos e inconsistências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63093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0" i="0">
                <a:solidFill>
                  <a:srgbClr val="172A2E"/>
                </a:solidFill>
                <a:latin typeface="Segoe UI"/>
              </a:rPr>
              <a:t>•  </a:t>
            </a:r>
            <a:r>
              <a:rPr sz="1350" b="1">
                <a:solidFill>
                  <a:srgbClr val="B07F24"/>
                </a:solidFill>
                <a:latin typeface="Segoe UI"/>
              </a:rPr>
              <a:t>Base anual:</a:t>
            </a:r>
            <a:r>
              <a:rPr sz="1350" b="0" i="0">
                <a:solidFill>
                  <a:srgbClr val="172A2E"/>
                </a:solidFill>
                <a:latin typeface="Segoe UI"/>
              </a:rPr>
              <a:t> 4 linhas com Especificação nula removidas — fração ínfima de 1.606 linhas.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0" i="0">
                <a:solidFill>
                  <a:srgbClr val="172A2E"/>
                </a:solidFill>
                <a:latin typeface="Segoe UI"/>
              </a:rPr>
              <a:t>•  </a:t>
            </a:r>
            <a:r>
              <a:rPr sz="1350" b="1">
                <a:solidFill>
                  <a:srgbClr val="B07F24"/>
                </a:solidFill>
                <a:latin typeface="Segoe UI"/>
              </a:rPr>
              <a:t>Base mensal:</a:t>
            </a:r>
            <a:r>
              <a:rPr sz="1350" b="0" i="0">
                <a:solidFill>
                  <a:srgbClr val="172A2E"/>
                </a:solidFill>
                <a:latin typeface="Segoe UI"/>
              </a:rPr>
              <a:t> 81 linhas de Video Card Description nulas — erro do próprio Wayback Machine ao arquivar aquele snapshot, não da Steam.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0" i="0">
                <a:solidFill>
                  <a:srgbClr val="172A2E"/>
                </a:solidFill>
                <a:latin typeface="Segoe UI"/>
              </a:rPr>
              <a:t>•  35 dessas 81 foram </a:t>
            </a:r>
            <a:r>
              <a:rPr sz="1350" b="1">
                <a:solidFill>
                  <a:srgbClr val="B07F24"/>
                </a:solidFill>
                <a:latin typeface="Segoe UI"/>
              </a:rPr>
              <a:t>recuperadas</a:t>
            </a:r>
            <a:r>
              <a:rPr sz="1350" b="0" i="0">
                <a:solidFill>
                  <a:srgbClr val="172A2E"/>
                </a:solidFill>
                <a:latin typeface="Segoe UI"/>
              </a:rPr>
              <a:t> comparando a porcentagem do mês com o incremento informado.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0" i="0">
                <a:solidFill>
                  <a:srgbClr val="172A2E"/>
                </a:solidFill>
                <a:latin typeface="Segoe UI"/>
              </a:rPr>
              <a:t>•  As 46 linhas restantes, sem candidato único, foram removidas.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50" b="0" i="0">
                <a:solidFill>
                  <a:srgbClr val="172A2E"/>
                </a:solidFill>
                <a:latin typeface="Segoe UI"/>
              </a:rPr>
              <a:t>•  Percentuais em texto convertidos para float; nomes de colunas e valores padronizados entre os 8 arquivos anuais.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96596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/>
          <a:lstStyle/>
          <a:p>
            <a:pPr algn="ctr"/>
            <a:r>
              <a:rPr sz="2100" b="1">
                <a:solidFill>
                  <a:srgbClr val="0F333F"/>
                </a:solidFill>
                <a:latin typeface="Segoe UI"/>
              </a:rPr>
              <a:t>4</a:t>
            </a:r>
          </a:p>
          <a:p>
            <a:r>
              <a:rPr sz="1100" b="1">
                <a:solidFill>
                  <a:srgbClr val="4D6167"/>
                </a:solidFill>
                <a:latin typeface="Segoe UI"/>
              </a:rPr>
              <a:t>linhas nulas removidas (anual)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20040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/>
          <a:lstStyle/>
          <a:p>
            <a:pPr algn="ctr"/>
            <a:r>
              <a:rPr sz="2100" b="1">
                <a:solidFill>
                  <a:srgbClr val="0F333F"/>
                </a:solidFill>
                <a:latin typeface="Segoe UI"/>
              </a:rPr>
              <a:t>35 / 81</a:t>
            </a:r>
          </a:p>
          <a:p>
            <a:r>
              <a:rPr sz="1100" b="1">
                <a:solidFill>
                  <a:srgbClr val="4D6167"/>
                </a:solidFill>
                <a:latin typeface="Segoe UI"/>
              </a:rPr>
              <a:t>placas de vídeo recuperadas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43484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/>
          <a:lstStyle/>
          <a:p>
            <a:pPr algn="ctr"/>
            <a:r>
              <a:rPr sz="2100" b="1">
                <a:solidFill>
                  <a:srgbClr val="0F333F"/>
                </a:solidFill>
                <a:latin typeface="Segoe UI"/>
              </a:rPr>
              <a:t>46</a:t>
            </a:r>
          </a:p>
          <a:p>
            <a:r>
              <a:rPr sz="1100" b="1">
                <a:solidFill>
                  <a:srgbClr val="4D6167"/>
                </a:solidFill>
                <a:latin typeface="Segoe UI"/>
              </a:rPr>
              <a:t>linhas irrecuperáveis, removidas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417673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Pré-processamento · Limpeza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90161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Um exemplo real: a linha sem nome de Set/2019</a:t>
            </a:r>
          </a:p>
        </p:txBody>
      </p:sp>
      <p:pic>
        <p:nvPicPr>
          <p:cNvPr id="9" name="Picture 8" descr="pre_pos_limpe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612" y="1828800"/>
            <a:ext cx="7494814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623559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4D6167"/>
                </a:solidFill>
                <a:latin typeface="Segoe UI"/>
              </a:rPr>
              <a:t>Recorte real da base mensal (Video Card Description, Setembro/2019). A linha em vermelho não tinha nome no snapshot do Wayback Machine; comparando o incremento (+0,03%) com o mês anterior, ela foi recuperada como </a:t>
            </a:r>
            <a:r>
              <a:rPr sz="1150" b="1">
                <a:solidFill>
                  <a:srgbClr val="B07F24"/>
                </a:solidFill>
                <a:latin typeface="Segoe UI"/>
              </a:rPr>
              <a:t>AMD Radeon RX 470</a:t>
            </a:r>
            <a:r>
              <a:rPr sz="1150" b="0" i="0">
                <a:solidFill>
                  <a:srgbClr val="4D6167"/>
                </a:solidFill>
                <a:latin typeface="Segoe UI"/>
              </a:rPr>
              <a:t> (verde), com a mesma porcentagem e o mesmo incremento originais.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735177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Métodos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766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Gráficos e modelos utilizados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2441448" cy="5303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333F"/>
                </a:solidFill>
                <a:latin typeface="Segoe UI"/>
              </a:rPr>
              <a:t>Gráficos de barras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965960"/>
            <a:ext cx="2441448" cy="5303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333F"/>
                </a:solidFill>
                <a:latin typeface="Segoe UI"/>
              </a:rPr>
              <a:t>Gráficos de linhas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1032" y="1965960"/>
            <a:ext cx="2546604" cy="5303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333F"/>
                </a:solidFill>
                <a:latin typeface="Segoe UI"/>
              </a:rPr>
              <a:t>Dispersão (scatter)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18804" y="1965960"/>
            <a:ext cx="2967228" cy="53035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333F"/>
                </a:solidFill>
                <a:latin typeface="Segoe UI"/>
              </a:rPr>
              <a:t>Mapa de calor (heatmap)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51663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01168" rIns="201168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333F"/>
                </a:solidFill>
                <a:latin typeface="Segoe UI"/>
              </a:rPr>
              <a:t>Regressão linear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4D6167"/>
                </a:solidFill>
                <a:latin typeface="Segoe UI"/>
              </a:rPr>
              <a:t>Usada em RAM, VRAM, CPU e resolução de tela para estimar tendências e projetar valores até 2030.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063240"/>
            <a:ext cx="516636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01168" rIns="201168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F333F"/>
                </a:solidFill>
                <a:latin typeface="Segoe UI"/>
              </a:rPr>
              <a:t>Agrupamento K-Means (k = 3)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4D6167"/>
                </a:solidFill>
                <a:latin typeface="Segoe UI"/>
              </a:rPr>
              <a:t>Aplicado à VRAM, ano a ano, para revelar perfis de hardware: Entrada, Intermediário e Entusiasta.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492300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1 · 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4788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Distribuição da RAM por faixa, 2019–2026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14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2479334"/>
            <a:ext cx="6629400" cy="29508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Os </a:t>
            </a:r>
            <a:r>
              <a:rPr sz="1250" b="1">
                <a:solidFill>
                  <a:srgbClr val="B07F24"/>
                </a:solidFill>
                <a:latin typeface="Segoe UI"/>
              </a:rPr>
              <a:t>16 GB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são a faixa dominante desde 2019, mas perdem participação: de 46,4% (2019) para 41,1% (2026).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Os </a:t>
            </a:r>
            <a:r>
              <a:rPr sz="1250" b="1">
                <a:solidFill>
                  <a:srgbClr val="B07F24"/>
                </a:solidFill>
                <a:latin typeface="Segoe UI"/>
              </a:rPr>
              <a:t>32 GB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saltam de praticamente 0% (antes de 2022) para 36,9% em 2026 — o crescimento mais acelerado da série.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faixa de </a:t>
            </a:r>
            <a:r>
              <a:rPr sz="1250" b="1">
                <a:solidFill>
                  <a:srgbClr val="B07F24"/>
                </a:solidFill>
                <a:latin typeface="Segoe UI"/>
              </a:rPr>
              <a:t>4 GB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praticamente desaparece (6,0% → 1,5%), refletindo a aposentadoria de PCs de entrada mais antigos.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492300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1 · 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4788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Regressão linear e projeção para 2030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18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526" y="2011679"/>
            <a:ext cx="3769946" cy="3886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89903"/>
            <a:ext cx="6903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i="1">
                <a:solidFill>
                  <a:srgbClr val="4D6167"/>
                </a:solidFill>
                <a:latin typeface="Segoe UI"/>
              </a:rPr>
              <a:t>Regressão linear simples (scipy.linregress) treinada por faixa de RAM sobre os dados anuais 2019–2026.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reta de regressão por faixa projeta os </a:t>
            </a:r>
            <a:r>
              <a:rPr sz="1250" b="1">
                <a:solidFill>
                  <a:srgbClr val="B07F24"/>
                </a:solidFill>
                <a:latin typeface="Segoe UI"/>
              </a:rPr>
              <a:t>32 GB ultrapassando os 16 GB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por volta de 2026 e chegando a </a:t>
            </a:r>
            <a:r>
              <a:rPr sz="1250" b="1">
                <a:solidFill>
                  <a:srgbClr val="B07F24"/>
                </a:solidFill>
                <a:latin typeface="Segoe UI"/>
              </a:rPr>
              <a:t>~64%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em 2030, contra ~38% dos 16 GB.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Os </a:t>
            </a:r>
            <a:r>
              <a:rPr sz="1250" b="1">
                <a:solidFill>
                  <a:srgbClr val="B07F24"/>
                </a:solidFill>
                <a:latin typeface="Segoe UI"/>
              </a:rPr>
              <a:t>8 GB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tendem a sumir do mercado (projeção ≤ 1% em 2030); os 64 GB crescem devagar, para ~7%.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Sinal de que, até o fim da década, 16 GB deixa de ser o “padrão” da maioria dos jogadores da Steam.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576425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2 · VRAM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48913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Distribuição da VRAM por faixa, 2019–2026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15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2347748"/>
            <a:ext cx="6629400" cy="32140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VRAM se fragmenta em muito mais faixas do que a RAM (18 tiers), refletindo a maior diversidade de modelos de GPU no mercado.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Faixas antigas (0,5–2 GB) praticamente desaparecem ao longo da série.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Faixas de 8–16 GB ganham espaço a partir de 2022–2023, coincidindo com a chegada das GPUs RTX 30/40.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576425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2 · VRAM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48913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Perfis de hardware via K-Means (k =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15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6445"/>
            <a:ext cx="3246120" cy="1596668"/>
          </a:xfrm>
          <a:prstGeom prst="rect">
            <a:avLst/>
          </a:prstGeom>
        </p:spPr>
      </p:pic>
      <p:pic>
        <p:nvPicPr>
          <p:cNvPr id="11" name="Picture 10" descr="cell157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3154216"/>
            <a:ext cx="3246119" cy="160112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 K-Means separa, todo ano, 3 perfis nítidos de usuário: </a:t>
            </a:r>
            <a:r>
              <a:rPr sz="1250" b="1">
                <a:solidFill>
                  <a:srgbClr val="B07F24"/>
                </a:solidFill>
                <a:latin typeface="Segoe UI"/>
              </a:rPr>
              <a:t>Entrada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, </a:t>
            </a:r>
            <a:r>
              <a:rPr sz="1250" b="1">
                <a:solidFill>
                  <a:srgbClr val="B07F24"/>
                </a:solidFill>
                <a:latin typeface="Segoe UI"/>
              </a:rPr>
              <a:t>Intermediário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e </a:t>
            </a:r>
            <a:r>
              <a:rPr sz="1250" b="1">
                <a:solidFill>
                  <a:srgbClr val="B07F24"/>
                </a:solidFill>
                <a:latin typeface="Segoe UI"/>
              </a:rPr>
              <a:t>Entusiasta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VRAM média do perfil </a:t>
            </a:r>
            <a:r>
              <a:rPr sz="1250" b="1">
                <a:solidFill>
                  <a:srgbClr val="B07F24"/>
                </a:solidFill>
                <a:latin typeface="Segoe UI"/>
              </a:rPr>
              <a:t>Entusiasta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salta de 11 GB (2019) para 28 GB (2025) e 24,5 GB (2026) — puxada pelas GPUs de ponta mais recentes.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Mesmo o perfil de </a:t>
            </a:r>
            <a:r>
              <a:rPr sz="1250" b="1">
                <a:solidFill>
                  <a:srgbClr val="B07F24"/>
                </a:solidFill>
                <a:latin typeface="Segoe UI"/>
              </a:rPr>
              <a:t>Entrada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mais que dobra (2,0 → 4,7 GB): a “barra mínima” de VRAM também sobe.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576425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2 · VRAM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48913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Regressão e projeção das 4 faixas mais populares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16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24" y="2011679"/>
            <a:ext cx="6521750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Entre os tiers mais populares em 2026 (8, 16, 12 e 4 GB), a regressão prevê os </a:t>
            </a:r>
            <a:r>
              <a:rPr sz="1250" b="1">
                <a:solidFill>
                  <a:srgbClr val="B07F24"/>
                </a:solidFill>
                <a:latin typeface="Segoe UI"/>
              </a:rPr>
              <a:t>16 GB ultrapassando os 8 GB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por volta de 2028, chegando a ~49% em 2030.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 ajuste do modelo aos dados históricos tem </a:t>
            </a:r>
            <a:r>
              <a:rPr sz="1250" b="1">
                <a:solidFill>
                  <a:srgbClr val="B07F24"/>
                </a:solidFill>
                <a:latin typeface="Segoe UI"/>
              </a:rPr>
              <a:t>R² = 0,87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dentro da amostra — um bom ajuste para uma regressão simples.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faixa de 4 GB caminha para 0% já em 2029–2030.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239926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RAM mês a mês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12414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Setembro/2025 a Maio/2026, em detalhe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16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75625"/>
            <a:ext cx="6629399" cy="2958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Na janela mensal mais recente, os 16 GB oscilam perto de 40–42%, sem saltos bruscos mês a mês.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Mudanças de RAM são lentas mesmo às vésperas do fim do suporte ao Windows 10.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Os 32 GB mantêm leve tendência de alta mesmo no curto prazo, confirmando a tendência anual.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492300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3 · CPU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4788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Evolução do número de núcleos físicos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18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969" y="2011679"/>
            <a:ext cx="5429060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Os processadores de </a:t>
            </a:r>
            <a:r>
              <a:rPr sz="1250" b="1">
                <a:solidFill>
                  <a:srgbClr val="B07F24"/>
                </a:solidFill>
                <a:latin typeface="Segoe UI"/>
              </a:rPr>
              <a:t>4 núcleos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despencam de 54,6% (2019) para 13,3% (2026) — praticamente extintos como padrão.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Os </a:t>
            </a:r>
            <a:r>
              <a:rPr sz="1250" b="1">
                <a:solidFill>
                  <a:srgbClr val="B07F24"/>
                </a:solidFill>
                <a:latin typeface="Segoe UI"/>
              </a:rPr>
              <a:t>8 núcleos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saltam de 4,4% para 27,5%, quase empatando com os 6 núcleos (28,0%) já em 2026.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Configurações de 10+ núcleos ainda são minoria, mas crescem ano a ano.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492300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3 · CPU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4788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19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Projeção para 2030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19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490" y="2011679"/>
            <a:ext cx="3778018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regressão linear projeta os </a:t>
            </a:r>
            <a:r>
              <a:rPr sz="1250" b="1">
                <a:solidFill>
                  <a:srgbClr val="B07F24"/>
                </a:solidFill>
                <a:latin typeface="Segoe UI"/>
              </a:rPr>
              <a:t>8 núcleos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como configuração mais comum em 2030 (~42%), ultrapassando os 6 núcleos (~32%).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As faixas de 10 a 16 núcleos crescem juntas, mas cada uma isoladamente ainda deve ficar abaixo dos 8 núcleos.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 padrão de CPU para jogos caminha de “quantos núcleos bastam” para “quantos núcleos sobram”.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838297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4 · Sistema Operacional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1078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A transição de Windows 10 para Windows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20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2588755"/>
            <a:ext cx="6629400" cy="273204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Já em janeiro/2025 as curvas se cruzam: Windows 11 com 53,5% contra 42,9% do Windows 10.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Em maio/2026, o Windows 11 chega a </a:t>
            </a:r>
            <a:r>
              <a:rPr sz="1250" b="1">
                <a:solidFill>
                  <a:srgbClr val="B07F24"/>
                </a:solidFill>
                <a:latin typeface="Segoe UI"/>
              </a:rPr>
              <a:t>69,8%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contra apenas </a:t>
            </a:r>
            <a:r>
              <a:rPr sz="1250" b="1">
                <a:solidFill>
                  <a:srgbClr val="B07F24"/>
                </a:solidFill>
                <a:latin typeface="Segoe UI"/>
              </a:rPr>
              <a:t>24,0%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do Windows 10.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transição está consolidada e se acelera às vésperas do fim do suporte ao Windows 10 pela Microsoft.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838297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5 · Sistema Operacional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1078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Linux e macOS frente ao Windows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20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181" y="2011679"/>
            <a:ext cx="5100637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 </a:t>
            </a:r>
            <a:r>
              <a:rPr sz="1250" b="1">
                <a:solidFill>
                  <a:srgbClr val="B07F24"/>
                </a:solidFill>
                <a:latin typeface="Segoe UI"/>
              </a:rPr>
              <a:t>Linux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salta de 0,67% (2019) para 3,99% (2026) — quase 6× de crescimento, puxado por SteamOS e Steam Deck.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 </a:t>
            </a:r>
            <a:r>
              <a:rPr sz="1250" b="1">
                <a:solidFill>
                  <a:srgbClr val="B07F24"/>
                </a:solidFill>
                <a:latin typeface="Segoe UI"/>
              </a:rPr>
              <a:t>macOS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estagna entre 1,6% e 2,7% ao longo de toda a série.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partir de 2024, o Linux ultrapassa o macOS e nunca mais perde essa posição.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492300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6 · GPU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4788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Participação de mercado por fabricante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20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67" y="2011679"/>
            <a:ext cx="6027864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</a:t>
            </a:r>
            <a:r>
              <a:rPr sz="1250" b="1">
                <a:solidFill>
                  <a:srgbClr val="B07F24"/>
                </a:solidFill>
                <a:latin typeface="Segoe UI"/>
              </a:rPr>
              <a:t>NVIDIA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domina o período inteiro, entre 68% e 87% dos usuários, com leve tendência de queda nos dois últimos anos.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</a:t>
            </a:r>
            <a:r>
              <a:rPr sz="1250" b="1">
                <a:solidFill>
                  <a:srgbClr val="B07F24"/>
                </a:solidFill>
                <a:latin typeface="Segoe UI"/>
              </a:rPr>
              <a:t>AMD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praticamente dobra sua participação, de 7,7% (2019) para 14,4% (2026).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</a:t>
            </a:r>
            <a:r>
              <a:rPr sz="1250" b="1">
                <a:solidFill>
                  <a:srgbClr val="B07F24"/>
                </a:solidFill>
                <a:latin typeface="Segoe UI"/>
              </a:rPr>
              <a:t>Intel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(GPUs integradas) permanece estável e residual, entre 5,6% e 7,7%.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670048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7 · Resolução de tela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4253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A queda lenta do 1920×1080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21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2312635"/>
            <a:ext cx="6629400" cy="328428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 </a:t>
            </a:r>
            <a:r>
              <a:rPr sz="1250" b="1">
                <a:solidFill>
                  <a:srgbClr val="B07F24"/>
                </a:solidFill>
                <a:latin typeface="Segoe UI"/>
              </a:rPr>
              <a:t>1920×1080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segue majoritário, mas cai de 60,5% (2019) para 51,9% (2026); o </a:t>
            </a:r>
            <a:r>
              <a:rPr sz="1250" b="1">
                <a:solidFill>
                  <a:srgbClr val="B07F24"/>
                </a:solidFill>
                <a:latin typeface="Segoe UI"/>
              </a:rPr>
              <a:t>1366×768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praticamente desaparece (14,0% → 2,4%).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O </a:t>
            </a:r>
            <a:r>
              <a:rPr sz="1250" b="1">
                <a:solidFill>
                  <a:srgbClr val="B07F24"/>
                </a:solidFill>
                <a:latin typeface="Segoe UI"/>
              </a:rPr>
              <a:t>2560×1440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mais que quintuplica, de 4,0% para 21,2%.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Projetando a tendência a partir de 2022, a regressão aponta um possível </a:t>
            </a:r>
            <a:r>
              <a:rPr sz="1250" b="1">
                <a:solidFill>
                  <a:srgbClr val="B07F24"/>
                </a:solidFill>
                <a:latin typeface="Segoe UI"/>
              </a:rPr>
              <a:t>cruzamento entre as duas resoluções por volta de 2029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081174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8 · Correlação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3662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0F333F"/>
                </a:solidFill>
                <a:latin typeface="Segoe UI"/>
              </a:rPr>
              <a:t>16 GB de RAM e a substituição Windows 10 →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6903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ll22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49114"/>
            <a:ext cx="3246120" cy="2211330"/>
          </a:xfrm>
          <a:prstGeom prst="rect">
            <a:avLst/>
          </a:prstGeom>
        </p:spPr>
      </p:pic>
      <p:pic>
        <p:nvPicPr>
          <p:cNvPr id="11" name="Picture 10" descr="cell224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79" y="2712749"/>
            <a:ext cx="3246120" cy="24840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35240" y="1874519"/>
            <a:ext cx="4069080" cy="4206240"/>
          </a:xfrm>
          <a:prstGeom prst="roundRect">
            <a:avLst>
              <a:gd name="adj" fmla="val 6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l">
              <a:spcAft>
                <a:spcPts val="1000"/>
              </a:spcAft>
            </a:pPr>
            <a:r>
              <a:rPr sz="1150" b="1">
                <a:solidFill>
                  <a:srgbClr val="FAF4E6"/>
                </a:solidFill>
                <a:latin typeface="Segoe UI"/>
              </a:rPr>
              <a:t>●  O QUE É POSSÍVEL INTERPRETAR DESSA ANÁLISE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correlação entre </a:t>
            </a:r>
            <a:r>
              <a:rPr sz="1250" b="1">
                <a:solidFill>
                  <a:srgbClr val="B07F24"/>
                </a:solidFill>
                <a:latin typeface="Segoe UI"/>
              </a:rPr>
              <a:t>Windows 10 64 bit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e </a:t>
            </a:r>
            <a:r>
              <a:rPr sz="1250" b="1">
                <a:solidFill>
                  <a:srgbClr val="B07F24"/>
                </a:solidFill>
                <a:latin typeface="Segoe UI"/>
              </a:rPr>
              <a:t>Windows 11 64 bit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é de </a:t>
            </a:r>
            <a:r>
              <a:rPr sz="1250" b="1">
                <a:solidFill>
                  <a:srgbClr val="B07F24"/>
                </a:solidFill>
                <a:latin typeface="Segoe UI"/>
              </a:rPr>
              <a:t>−0,997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: quase perfeita e negativa.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Isso indica </a:t>
            </a:r>
            <a:r>
              <a:rPr sz="1250" b="1">
                <a:solidFill>
                  <a:srgbClr val="B07F24"/>
                </a:solidFill>
                <a:latin typeface="Segoe UI"/>
              </a:rPr>
              <a:t>substituição direta</a:t>
            </a:r>
            <a:r>
              <a:rPr sz="1250" b="0" i="0">
                <a:solidFill>
                  <a:srgbClr val="FAF4E6"/>
                </a:solidFill>
                <a:latin typeface="Segoe UI"/>
              </a:rPr>
              <a:t> — a queda de um explica quase toda a alta do outro, não uma adoção paralela dos dois sistemas.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 b="0" i="0">
                <a:solidFill>
                  <a:srgbClr val="FAF4E6"/>
                </a:solidFill>
                <a:latin typeface="Segoe UI"/>
              </a:rPr>
              <a:t>•  A regressão de 16 GB de RAM (base bruta) projeta leve queda, de 42,5% (2026) para 38,1% (2030).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333548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9 · Steam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06036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Steam Machine (2026), da Valve</a:t>
            </a:r>
          </a:p>
        </p:txBody>
      </p:sp>
      <p:pic>
        <p:nvPicPr>
          <p:cNvPr id="9" name="Picture 8" descr="steam_mach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4709160" cy="35318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52526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i="1">
                <a:solidFill>
                  <a:srgbClr val="4D6167"/>
                </a:solidFill>
                <a:latin typeface="Segoe UI"/>
              </a:rPr>
              <a:t>Steam Machine (2026), Valve Corporation — via Wikimedia Commons.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32120" y="1920240"/>
          <a:ext cx="61722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251960"/>
              </a:tblGrid>
              <a:tr h="4972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07F24"/>
                          </a:solidFill>
                          <a:latin typeface="Segoe UI"/>
                        </a:rPr>
                        <a:t>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72A2E"/>
                          </a:solidFill>
                          <a:latin typeface="Segoe UI"/>
                        </a:rPr>
                        <a:t>AMD Zen 4 semi-custom, 6 núcleos / 12 threads, até 4,8 GHz, TDP 30 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07F24"/>
                          </a:solidFill>
                          <a:latin typeface="Segoe UI"/>
                        </a:rPr>
                        <a:t>GPU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72A2E"/>
                          </a:solidFill>
                          <a:latin typeface="Segoe UI"/>
                        </a:rPr>
                        <a:t>AMD RDNA 3 semi-custom, 28 CUs, 2,45 GHz — equivalente à Radeon RX 7600M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07F24"/>
                          </a:solidFill>
                          <a:latin typeface="Segoe UI"/>
                        </a:rPr>
                        <a:t>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72A2E"/>
                          </a:solidFill>
                          <a:latin typeface="Segoe UI"/>
                        </a:rPr>
                        <a:t>16 GB DDR5 SO-DIMM (upgradável, 2 slots)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07F24"/>
                          </a:solidFill>
                          <a:latin typeface="Segoe UI"/>
                        </a:rPr>
                        <a:t>VRAM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72A2E"/>
                          </a:solidFill>
                          <a:latin typeface="Segoe UI"/>
                        </a:rPr>
                        <a:t>8 GB GDDR6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07F24"/>
                          </a:solidFill>
                          <a:latin typeface="Segoe UI"/>
                        </a:rPr>
                        <a:t>Armazenamento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72A2E"/>
                          </a:solidFill>
                          <a:latin typeface="Segoe UI"/>
                        </a:rPr>
                        <a:t>512 GB ou 2 TB NVMe M.2 2230 + expansão M.2 2280 + microSD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07F24"/>
                          </a:solidFill>
                          <a:latin typeface="Segoe UI"/>
                        </a:rPr>
                        <a:t>Sistema Operacional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72A2E"/>
                          </a:solidFill>
                          <a:latin typeface="Segoe UI"/>
                        </a:rPr>
                        <a:t>SteamOS 3.x (baseado em Arch Linux)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07F24"/>
                          </a:solidFill>
                          <a:latin typeface="Segoe UI"/>
                        </a:rPr>
                        <a:t>Resoluções suportadas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72A2E"/>
                          </a:solidFill>
                          <a:latin typeface="Segoe UI"/>
                        </a:rPr>
                        <a:t>720p, 1080p, 1440p e 4K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B07F24"/>
                          </a:solidFill>
                          <a:latin typeface="Segoe UI"/>
                        </a:rPr>
                        <a:t>Preço de lançamento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72A2E"/>
                          </a:solidFill>
                          <a:latin typeface="Segoe UI"/>
                        </a:rPr>
                        <a:t>US$ 1.049 (512 GB) / US$ 1.349 (2 TB)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2333548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Pergunta 9 · Steam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06036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O que os dados dizem sobre o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3327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172A2E"/>
                </a:solidFill>
                <a:latin typeface="Segoe UI"/>
              </a:rPr>
              <a:t>•  As especificações de lançamento — </a:t>
            </a:r>
            <a:r>
              <a:rPr sz="1600" b="1">
                <a:solidFill>
                  <a:srgbClr val="B07F24"/>
                </a:solidFill>
                <a:latin typeface="Segoe UI"/>
              </a:rPr>
              <a:t>16 GB de RAM, 8 GB de VRAM, 6 núcleos</a:t>
            </a:r>
            <a:r>
              <a:rPr sz="1600" b="0" i="0">
                <a:solidFill>
                  <a:srgbClr val="172A2E"/>
                </a:solidFill>
                <a:latin typeface="Segoe UI"/>
              </a:rPr>
              <a:t> — batem com a configuração mais popular hoje entre os usuários da Steam.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172A2E"/>
                </a:solidFill>
                <a:latin typeface="Segoe UI"/>
              </a:rPr>
              <a:t>•  Mas nossas projeções para 2026–2030 apontam para </a:t>
            </a:r>
            <a:r>
              <a:rPr sz="1600" b="1">
                <a:solidFill>
                  <a:srgbClr val="B07F24"/>
                </a:solidFill>
                <a:latin typeface="Segoe UI"/>
              </a:rPr>
              <a:t>32 GB de RAM, 12–16 GB de VRAM, 8+ núcleos e telas 1440p</a:t>
            </a:r>
            <a:r>
              <a:rPr sz="1600" b="0" i="0">
                <a:solidFill>
                  <a:srgbClr val="172A2E"/>
                </a:solidFill>
                <a:latin typeface="Segoe UI"/>
              </a:rPr>
              <a:t> como o próximo patamar.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172A2E"/>
                </a:solidFill>
                <a:latin typeface="Segoe UI"/>
              </a:rPr>
              <a:t>•  Sem upgrade de VRAM/CPU, o console se aproxima mais de especificações de </a:t>
            </a:r>
            <a:r>
              <a:rPr sz="1600" b="1">
                <a:solidFill>
                  <a:srgbClr val="B07F24"/>
                </a:solidFill>
                <a:latin typeface="Segoe UI"/>
              </a:rPr>
              <a:t>2020</a:t>
            </a:r>
            <a:r>
              <a:rPr sz="1600" b="0" i="0">
                <a:solidFill>
                  <a:srgbClr val="172A2E"/>
                </a:solidFill>
                <a:latin typeface="Segoe UI"/>
              </a:rPr>
              <a:t> do que de um lançamento pensado para durar até 2030.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 i="0">
                <a:solidFill>
                  <a:srgbClr val="172A2E"/>
                </a:solidFill>
                <a:latin typeface="Segoe UI"/>
              </a:rPr>
              <a:t>•  A crise de chips de memória (agravada pela demanda de IA) ajuda a explicar o preço elevado e as escolhas mais conservadoras da Valve.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903427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7591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Resumo das etapas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1865376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44368"/>
            <a:ext cx="1499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F333F"/>
                </a:solidFill>
                <a:latin typeface="Segoe UI"/>
              </a:rPr>
              <a:t>Extração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2697479"/>
            <a:ext cx="283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D5E70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2286000"/>
            <a:ext cx="1865376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54096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944368"/>
            <a:ext cx="1499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F333F"/>
                </a:solidFill>
                <a:latin typeface="Segoe UI"/>
              </a:rPr>
              <a:t>Leitura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697479"/>
            <a:ext cx="283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D5E70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6632" y="2286000"/>
            <a:ext cx="1865376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39512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944368"/>
            <a:ext cx="1499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F333F"/>
                </a:solidFill>
                <a:latin typeface="Segoe UI"/>
              </a:rPr>
              <a:t>Limpeza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2697479"/>
            <a:ext cx="283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D5E70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2048" y="2286000"/>
            <a:ext cx="1865376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24927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944368"/>
            <a:ext cx="1499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F333F"/>
                </a:solidFill>
                <a:latin typeface="Segoe UI"/>
              </a:rPr>
              <a:t>Gráficos &amp; modelos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2697479"/>
            <a:ext cx="283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D5E70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7464" y="2286000"/>
            <a:ext cx="1865376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10344" y="2450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AF4E6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4" y="2944368"/>
            <a:ext cx="1499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0F333F"/>
                </a:solidFill>
                <a:latin typeface="Segoe UI"/>
              </a:rPr>
              <a:t>Steam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319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1">
                <a:solidFill>
                  <a:srgbClr val="172A2E"/>
                </a:solidFill>
                <a:latin typeface="Segoe UI"/>
              </a:rPr>
              <a:t>Percorremos o pipeline completo do projeto para responder às 9 perguntas propostas na introdução, combinando estatística descritiva, regressão linear e agrupamento K-Means.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903427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7591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Principais resultados (1/2)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16635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01168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64A59"/>
                </a:solidFill>
                <a:latin typeface="Segoe UI"/>
              </a:rPr>
              <a:t>RAM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4D6167"/>
                </a:solidFill>
                <a:latin typeface="Segoe UI"/>
              </a:rPr>
              <a:t>16 GB é o padrão desde 2019, mas os 32 GB crescem sem parar e devem ultrapassar os 16 GB por volta de 2030.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64008" cy="1417320"/>
          </a:xfrm>
          <a:prstGeom prst="rect">
            <a:avLst/>
          </a:prstGeom>
          <a:solidFill>
            <a:srgbClr val="1D5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79" y="1965960"/>
            <a:ext cx="516635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01168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64A59"/>
                </a:solidFill>
                <a:latin typeface="Segoe UI"/>
              </a:rPr>
              <a:t>VRAM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4D6167"/>
                </a:solidFill>
                <a:latin typeface="Segoe UI"/>
              </a:rPr>
              <a:t>K-Means revela 3 perfis nítidos (entrada, intermediário, entusiasta), todos com VRAM média subindo entre 2019 e 2026.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965960"/>
            <a:ext cx="64008" cy="1417320"/>
          </a:xfrm>
          <a:prstGeom prst="rect">
            <a:avLst/>
          </a:prstGeom>
          <a:solidFill>
            <a:srgbClr val="1D5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16635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01168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64A59"/>
                </a:solidFill>
                <a:latin typeface="Segoe UI"/>
              </a:rPr>
              <a:t>CPU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4D6167"/>
                </a:solidFill>
                <a:latin typeface="Segoe UI"/>
              </a:rPr>
              <a:t>4 núcleos, maioria em 2019, perdeu espaço para 6 e 8 núcleos — tendência que a regressão acentua até 2030.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1D5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903427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7591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29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Principais resultados (2/2)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16635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01168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64A59"/>
                </a:solidFill>
                <a:latin typeface="Segoe UI"/>
              </a:rPr>
              <a:t>Sistema Operacional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4D6167"/>
                </a:solidFill>
                <a:latin typeface="Segoe UI"/>
              </a:rPr>
              <a:t>Windows 11 ultrapassou o Windows 10 em 2025–2026; o Linux mais que quintuplicou desde 2019, superando o macOS.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64008" cy="1417320"/>
          </a:xfrm>
          <a:prstGeom prst="rect">
            <a:avLst/>
          </a:prstGeom>
          <a:solidFill>
            <a:srgbClr val="1D5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79" y="1965960"/>
            <a:ext cx="516635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01168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64A59"/>
                </a:solidFill>
                <a:latin typeface="Segoe UI"/>
              </a:rPr>
              <a:t>GPU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4D6167"/>
                </a:solidFill>
                <a:latin typeface="Segoe UI"/>
              </a:rPr>
              <a:t>NVIDIA mantém liderança folgada (~70–85%) frente a AMD e Intel, com leve queda recente.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965960"/>
            <a:ext cx="64008" cy="1417320"/>
          </a:xfrm>
          <a:prstGeom prst="rect">
            <a:avLst/>
          </a:prstGeom>
          <a:solidFill>
            <a:srgbClr val="1D5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16635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01168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64A59"/>
                </a:solidFill>
                <a:latin typeface="Segoe UI"/>
              </a:rPr>
              <a:t>Resolução de tela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4D6167"/>
                </a:solidFill>
                <a:latin typeface="Segoe UI"/>
              </a:rPr>
              <a:t>1920×1080 ainda domina, mas cai desde 2022; o 2560×1440 cresce a ponto de um possível cruzamento futuro.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64008" cy="1417320"/>
          </a:xfrm>
          <a:prstGeom prst="rect">
            <a:avLst/>
          </a:prstGeom>
          <a:solidFill>
            <a:srgbClr val="1D5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79" y="3657600"/>
            <a:ext cx="516635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 rIns="201168"/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64A59"/>
                </a:solidFill>
                <a:latin typeface="Segoe UI"/>
              </a:rPr>
              <a:t>Steam Machine (2026)</a:t>
            </a:r>
          </a:p>
          <a:p>
            <a:pPr>
              <a:lnSpc>
                <a:spcPct val="115000"/>
              </a:lnSpc>
            </a:pPr>
            <a:r>
              <a:rPr sz="1150">
                <a:solidFill>
                  <a:srgbClr val="4D6167"/>
                </a:solidFill>
                <a:latin typeface="Segoe UI"/>
              </a:rPr>
              <a:t>Excelente proposta na configuração de hoje, mas esbarra na alta dos preços e em specs mais conservadoras que a tendência projetada.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3657600"/>
            <a:ext cx="64008" cy="1417320"/>
          </a:xfrm>
          <a:prstGeom prst="rect">
            <a:avLst/>
          </a:prstGeom>
          <a:solidFill>
            <a:srgbClr val="1D5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903427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75915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30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Limitações &amp; trabalhos futuros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B07F24"/>
                </a:solidFill>
                <a:latin typeface="Segoe UI"/>
              </a:rPr>
              <a:t>LIMITAÇÕES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5166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0" i="0">
                <a:solidFill>
                  <a:srgbClr val="172A2E"/>
                </a:solidFill>
                <a:latin typeface="Segoe UI"/>
              </a:rPr>
              <a:t>•  Depende da disponibilidade dos snapshots no Wayback Machine; alguns meses exigiram fontes externas.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0" i="0">
                <a:solidFill>
                  <a:srgbClr val="172A2E"/>
                </a:solidFill>
                <a:latin typeface="Segoe UI"/>
              </a:rPr>
              <a:t>•  A pesquisa da Steam é uma amostra voluntária, com possível viés de idioma, região e adesão.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0" i="0">
                <a:solidFill>
                  <a:srgbClr val="172A2E"/>
                </a:solidFill>
                <a:latin typeface="Segoe UI"/>
              </a:rPr>
              <a:t>•  Categorias mudam ao longo do tempo, exigindo agrupar valores em “tiers” que podem mascarar nuances.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0" i="0">
                <a:solidFill>
                  <a:srgbClr val="172A2E"/>
                </a:solidFill>
                <a:latin typeface="Segoe UI"/>
              </a:rPr>
              <a:t>•  Regressões lineares simples não capturam saturação de mercado nem mudanças bruscas de tendência.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74519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>
                <a:solidFill>
                  <a:srgbClr val="B07F24"/>
                </a:solidFill>
                <a:latin typeface="Segoe UI"/>
              </a:rPr>
              <a:t>TRABALHOS FUTUROS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31720"/>
            <a:ext cx="5166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0" i="0">
                <a:solidFill>
                  <a:srgbClr val="172A2E"/>
                </a:solidFill>
                <a:latin typeface="Segoe UI"/>
              </a:rPr>
              <a:t>•  Modelos de séries temporais mais robustos (ex.: regressão polinomial) para capturar saturação.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0" i="0">
                <a:solidFill>
                  <a:srgbClr val="172A2E"/>
                </a:solidFill>
                <a:latin typeface="Segoe UI"/>
              </a:rPr>
              <a:t>•  Cruzar o Hardware Survey com o calendário de lançamentos de jogos AAA e consoles.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250" b="0" i="0">
                <a:solidFill>
                  <a:srgbClr val="172A2E"/>
                </a:solidFill>
                <a:latin typeface="Segoe UI"/>
              </a:rPr>
              <a:t>•  Cruzar o Hardware Survey com o preço do hardware ao longo do tempo.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1071676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Referências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44164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31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>
                <a:solidFill>
                  <a:srgbClr val="0F333F"/>
                </a:solidFill>
                <a:latin typeface="Segoe UI"/>
              </a:rPr>
              <a:t>Fontes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3327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0" i="0">
                <a:solidFill>
                  <a:srgbClr val="172A2E"/>
                </a:solidFill>
                <a:latin typeface="Segoe UI"/>
              </a:rPr>
              <a:t>•  Steam Hardware &amp; Software Survey — coletado via snapshots do </a:t>
            </a:r>
            <a:r>
              <a:rPr sz="1800" b="1">
                <a:solidFill>
                  <a:srgbClr val="B07F24"/>
                </a:solidFill>
                <a:latin typeface="Segoe UI"/>
              </a:rPr>
              <a:t>Wayback Machine</a:t>
            </a:r>
            <a:r>
              <a:rPr sz="1800" b="0" i="0">
                <a:solidFill>
                  <a:srgbClr val="172A2E"/>
                </a:solidFill>
                <a:latin typeface="Segoe UI"/>
              </a:rPr>
              <a:t> (web.archive.org)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0" i="0">
                <a:solidFill>
                  <a:srgbClr val="172A2E"/>
                </a:solidFill>
                <a:latin typeface="Segoe UI"/>
              </a:rPr>
              <a:t>•  Wikipedia — Steam Machine (2026)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0" i="0">
                <a:solidFill>
                  <a:srgbClr val="172A2E"/>
                </a:solidFill>
                <a:latin typeface="Segoe UI"/>
              </a:rPr>
              <a:t>•  Engadget — “Valve's Steam Machine launches in 2026: everything we know so far”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0" i="0">
                <a:solidFill>
                  <a:srgbClr val="172A2E"/>
                </a:solidFill>
                <a:latin typeface="Segoe UI"/>
              </a:rPr>
              <a:t>•  Repositório do projeto no GitHub: Trabalho-ICD-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fpb_bra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67816" cy="38404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7895" y="320040"/>
            <a:ext cx="819302" cy="329184"/>
          </a:xfrm>
          <a:prstGeom prst="roundRect">
            <a:avLst>
              <a:gd name="adj" fmla="val 50000"/>
            </a:avLst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FAF4E6"/>
                </a:solidFill>
                <a:latin typeface="Segoe UI"/>
              </a:rPr>
              <a:t>Obrigado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91790" y="320040"/>
            <a:ext cx="283829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D5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100" b="1">
                <a:solidFill>
                  <a:srgbClr val="164A59"/>
                </a:solidFill>
                <a:latin typeface="Segoe UI"/>
              </a:rPr>
              <a:t>Steam Hardware &amp; Software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solidFill>
            <a:srgbClr val="0F3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l"/>
            <a:r>
              <a:rPr sz="1050" b="1">
                <a:solidFill>
                  <a:srgbClr val="FAF4E6"/>
                </a:solidFill>
                <a:latin typeface="Segoe UI"/>
              </a:rPr>
              <a:t>Caio Paiva · João Arnaud · Eduardo Antônio · Thiago Lacerda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27648"/>
            <a:ext cx="112772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D7CEB4"/>
                </a:solidFill>
                <a:latin typeface="Segoe UI"/>
              </a:rPr>
              <a:t>Hardware da Steam × Contexto Histórico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27648"/>
            <a:ext cx="1107612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AF4E6"/>
                </a:solidFill>
                <a:latin typeface="Segoe UI"/>
              </a:rPr>
              <a:t>32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09728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5400" b="1">
                <a:solidFill>
                  <a:srgbClr val="0F333F"/>
                </a:solidFill>
                <a:latin typeface="Segoe UI"/>
              </a:rPr>
              <a:t>Perguntas?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>
                <a:solidFill>
                  <a:srgbClr val="4D6167"/>
                </a:solidFill>
                <a:latin typeface="Segoe UI"/>
              </a:rPr>
              <a:t>Caio Paiva · João Arnaud · Eduardo Antônio · Thiago Lacerda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